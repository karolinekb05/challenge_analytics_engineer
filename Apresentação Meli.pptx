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ia e Data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Autoria e Data</a:t>
            </a:r>
          </a:p>
        </p:txBody>
      </p:sp>
      <p:sp>
        <p:nvSpPr>
          <p:cNvPr id="12" name="Nível de Corpo Um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Subtítulo da Apresentação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Título da Apresentação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Título da Apresentação</a:t>
            </a:r>
          </a:p>
        </p:txBody>
      </p:sp>
      <p:sp>
        <p:nvSpPr>
          <p:cNvPr id="14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trutura futurista branca curvada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oria e Data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Autoria e Data</a:t>
            </a:r>
          </a:p>
        </p:txBody>
      </p:sp>
      <p:sp>
        <p:nvSpPr>
          <p:cNvPr id="23" name="Nível de Corpo Um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Subtítulo da Apresentação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Título da Apresentação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Título da Apresentação</a:t>
            </a:r>
          </a:p>
        </p:txBody>
      </p:sp>
      <p:sp>
        <p:nvSpPr>
          <p:cNvPr id="2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Foto Altern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de perto de um padrão branco curvo em camada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ítulo do Slid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Título do Slide</a:t>
            </a:r>
          </a:p>
        </p:txBody>
      </p:sp>
      <p:sp>
        <p:nvSpPr>
          <p:cNvPr id="34" name="Nível de Corpo Um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Subtítulo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ubtítulo do Slid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Subtítulo do Slide</a:t>
            </a:r>
          </a:p>
        </p:txBody>
      </p:sp>
      <p:sp>
        <p:nvSpPr>
          <p:cNvPr id="43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44" name="Nível de Corpo Um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com marcadores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ível de Corpo Um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com marcadores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Imagem de perto da borda de uma pedra branca curvada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ubtítulo do Slid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Subtítulo do Slide</a:t>
            </a:r>
          </a:p>
        </p:txBody>
      </p:sp>
      <p:sp>
        <p:nvSpPr>
          <p:cNvPr id="62" name="Título do Slid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63" name="Nível de Corpo Um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Texto com marcadores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Marcadores e Vídeo Peque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ubtítulo do Slid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Subtítulo do Slide</a:t>
            </a:r>
          </a:p>
        </p:txBody>
      </p:sp>
      <p:sp>
        <p:nvSpPr>
          <p:cNvPr id="72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73" name="Nível de Corpo Um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Texto com marcadores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Marcadores e Ví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ítulo do Slid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Subtítulo do Slide</a:t>
            </a:r>
          </a:p>
        </p:txBody>
      </p:sp>
      <p:sp>
        <p:nvSpPr>
          <p:cNvPr id="82" name="Título do Slid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83" name="Nível de Corpo Um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Texto com marcadores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 da Seção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Título da Seção</a:t>
            </a:r>
          </a:p>
        </p:txBody>
      </p:sp>
      <p:sp>
        <p:nvSpPr>
          <p:cNvPr id="92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ubtítulo do Slid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Subtítulo do Slide</a:t>
            </a:r>
          </a:p>
        </p:txBody>
      </p:sp>
      <p:sp>
        <p:nvSpPr>
          <p:cNvPr id="100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10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ubtítulo de Agenda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Subtítulo de Agenda</a:t>
            </a:r>
          </a:p>
        </p:txBody>
      </p:sp>
      <p:sp>
        <p:nvSpPr>
          <p:cNvPr id="109" name="Nível de Corpo Um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Tópicos da Agenda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Título da Agend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da Agenda</a:t>
            </a:r>
          </a:p>
        </p:txBody>
      </p:sp>
      <p:sp>
        <p:nvSpPr>
          <p:cNvPr id="1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ível de Corpo Um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Declaração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to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ível de Corpo Um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Informações do fato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Informações do fato</a:t>
            </a:r>
          </a:p>
        </p:txBody>
      </p:sp>
      <p:sp>
        <p:nvSpPr>
          <p:cNvPr id="128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ribuição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Atribuição</a:t>
            </a:r>
          </a:p>
        </p:txBody>
      </p:sp>
      <p:sp>
        <p:nvSpPr>
          <p:cNvPr id="136" name="Nível de Corpo Um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“Citação Notável”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Imagem de perto de um padrão branco curvo em camada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Imagem de perto de um padrão de pedras cinza em camada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Imagem de perto de um padrão branco corrugado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orredor futurístico angular branco com sombra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o Slid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Título do Slide</a:t>
            </a:r>
          </a:p>
        </p:txBody>
      </p:sp>
      <p:sp>
        <p:nvSpPr>
          <p:cNvPr id="3" name="Nível de Corpo Um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Texto com marcadores do slide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velopers.mercadolivre.com.br/pt_br/autenticacao-e-autorizacao" TargetMode="External"/><Relationship Id="rId3" Type="http://schemas.openxmlformats.org/officeDocument/2006/relationships/hyperlink" Target="https://developers.mercadolivre.com.br/pt_br/buscador-de-produto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Karoline Kirner Batistela, 14/04/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Karoline Kirner Batistela, 14/04/2025</a:t>
            </a:r>
          </a:p>
        </p:txBody>
      </p:sp>
      <p:sp>
        <p:nvSpPr>
          <p:cNvPr id="172" name="Projeto de ETL com análise de dado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Projeto de ETL com análise de dados</a:t>
            </a:r>
          </a:p>
        </p:txBody>
      </p:sp>
      <p:sp>
        <p:nvSpPr>
          <p:cNvPr id="173" name="Challenge - Chromeca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Challenge - Chromecast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Visão Ger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Visão Geral</a:t>
            </a:r>
          </a:p>
        </p:txBody>
      </p:sp>
      <p:sp>
        <p:nvSpPr>
          <p:cNvPr id="176" name="Este projeto é uma ferramenta de ELT com análise de dados que visa fornecer insights valiosos para a tomada de decisões estratégicas. Ele é composto por várias etapas, incluindo a coleta, transformação, modelagem, carregamento e análise dos dados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Este projeto é uma ferramenta de ELT com análise de dados que visa fornecer insights valiosos para a tomada de decisões estratégicas. Ele é composto por várias etapas, incluindo a coleta, transformação, modelagem, carregamento e análise dos dados.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Etapas realiza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Etapas realizadas</a:t>
            </a:r>
          </a:p>
        </p:txBody>
      </p:sp>
      <p:sp>
        <p:nvSpPr>
          <p:cNvPr id="179" name="Ingestão dos 500 dados da API com Python + reques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Ingestão dos 500 dados da API com Python + requests</a:t>
            </a:r>
          </a:p>
          <a:p>
            <a:pPr/>
            <a:r>
              <a:t>Transformação dos dados de JSON para CSV</a:t>
            </a:r>
          </a:p>
          <a:p>
            <a:pPr/>
            <a:r>
              <a:t>Modelagem dos dados baseado em Star Schema</a:t>
            </a:r>
          </a:p>
          <a:p>
            <a:pPr/>
            <a:r>
              <a:t>Carregamento dos dados no PostgreSQL em nuvem AWS</a:t>
            </a:r>
          </a:p>
          <a:p>
            <a:pPr/>
            <a:r>
              <a:t>Análise dos dados no Looker Studio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tapa 1: Ingestão dos d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Etapa 1: Ingestão dos dados</a:t>
            </a:r>
          </a:p>
        </p:txBody>
      </p:sp>
      <p:sp>
        <p:nvSpPr>
          <p:cNvPr id="182" name="Python com requests para receber as respostas da AP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com requests para receber as respostas da API</a:t>
            </a:r>
          </a:p>
          <a:p>
            <a:pPr/>
            <a:r>
              <a:t>Paginação: foram necessárias 10 páginas que retornaram 50 respostas cada para obter os 500 resultados necessários</a:t>
            </a:r>
          </a:p>
          <a:p>
            <a:pPr/>
            <a:r>
              <a:t>Por conta do retorno de 300 resultados somente de produtos ativos, decidi por acrescentar mais 200 resultados de produtos inativos para totalizar os 500</a:t>
            </a:r>
          </a:p>
          <a:p>
            <a:pPr/>
            <a:r>
              <a:t>Dados foram salvos em um arquivo .json para uma breve análise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tapa 2: Transformação dos d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Etapa 2: Transformação dos dados</a:t>
            </a:r>
          </a:p>
        </p:txBody>
      </p:sp>
      <p:sp>
        <p:nvSpPr>
          <p:cNvPr id="185" name="Obtive os dados do arquivo .json para separá-los por dataframes já idealizados para modelagem de dad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Obtive os dados do arquivo .json para separá-los por dataframes já idealizados para modelagem de dados</a:t>
            </a:r>
          </a:p>
          <a:p>
            <a:pPr/>
            <a:r>
              <a:t>Salvar os dados estruturados em arquivos .csv para possibilitar uma análise pontual e possibilitar o carregamento dos dados de forma fácil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Etapa 3: Modelagem de d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Etapa 3: Modelagem de dados</a:t>
            </a:r>
          </a:p>
        </p:txBody>
      </p:sp>
      <p:sp>
        <p:nvSpPr>
          <p:cNvPr id="188" name="Decidi por implementar o Star Schema pelos seguintes motivo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Decidi por implementar o Star Schema pelos seguintes motivos:</a:t>
            </a:r>
          </a:p>
          <a:p>
            <a:pPr/>
            <a:r>
              <a:t>Otimizado para análise de dados</a:t>
            </a:r>
          </a:p>
          <a:p>
            <a:pPr/>
            <a:r>
              <a:t>Altamente escalável, possibilitando gerar mais insights com novos dados</a:t>
            </a:r>
          </a:p>
          <a:p>
            <a:pPr/>
            <a:r>
              <a:t>Organização mais clara e objetiva dos dados por conta da granularidade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Etapa 4: Carregamento dos d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Etapa 4: Carregamento dos dados</a:t>
            </a:r>
          </a:p>
        </p:txBody>
      </p:sp>
      <p:sp>
        <p:nvSpPr>
          <p:cNvPr id="191" name="Criei arquivos .sql que são responsáveis por estruturar o banco de dados e as tabelas…"/>
          <p:cNvSpPr txBox="1"/>
          <p:nvPr>
            <p:ph type="body" idx="1"/>
          </p:nvPr>
        </p:nvSpPr>
        <p:spPr>
          <a:xfrm>
            <a:off x="1206500" y="3590270"/>
            <a:ext cx="21971000" cy="8914246"/>
          </a:xfrm>
          <a:prstGeom prst="rect">
            <a:avLst/>
          </a:prstGeom>
        </p:spPr>
        <p:txBody>
          <a:bodyPr/>
          <a:lstStyle/>
          <a:p>
            <a:pPr/>
            <a:r>
              <a:t>Criei arquivos .sql que são responsáveis por estruturar o banco de dados e as tabelas</a:t>
            </a:r>
          </a:p>
          <a:p>
            <a:pPr/>
            <a:r>
              <a:t>Escolhi o PostgreSQL por estar familiarizada</a:t>
            </a:r>
          </a:p>
          <a:p>
            <a:pPr/>
            <a:r>
              <a:t>Para tornar os dados acessíveis no Looker decidi por carregar os dados na nuvem AWS</a:t>
            </a:r>
          </a:p>
          <a:p>
            <a:pPr/>
            <a:r>
              <a:t>Os dados contidos nos arquivos .csv foram carregados em suas respectivas tabelas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Etapa 5: Análise de d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Etapa 5: Análise de dados</a:t>
            </a:r>
          </a:p>
        </p:txBody>
      </p:sp>
      <p:sp>
        <p:nvSpPr>
          <p:cNvPr id="194" name="Após analisar os dados, criei algumas perguntas para gerar os insights:…"/>
          <p:cNvSpPr txBox="1"/>
          <p:nvPr>
            <p:ph type="body" idx="1"/>
          </p:nvPr>
        </p:nvSpPr>
        <p:spPr>
          <a:xfrm>
            <a:off x="1206500" y="3287961"/>
            <a:ext cx="21971000" cy="9216555"/>
          </a:xfrm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Após analisar os dados, criei algumas perguntas para gerar os insights: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Quantos produtos estão com status ativo e/ou inativo?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Quais são os produtos da lista?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Quantos produtos foram criados por ano?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Quantos produtos são criados a cada dia da semana?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Quantos produtos preencheram aquele atributo?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Quantos produtos tem algum produto de herança?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É possível saber os dados por mês?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sult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Resultados</a:t>
            </a:r>
          </a:p>
        </p:txBody>
      </p:sp>
      <p:sp>
        <p:nvSpPr>
          <p:cNvPr id="197" name="Este projeto tornou capaz as seguintes ações:…"/>
          <p:cNvSpPr txBox="1"/>
          <p:nvPr>
            <p:ph type="body" idx="1"/>
          </p:nvPr>
        </p:nvSpPr>
        <p:spPr>
          <a:xfrm>
            <a:off x="1206500" y="3575785"/>
            <a:ext cx="21971000" cy="8928731"/>
          </a:xfrm>
          <a:prstGeom prst="rect">
            <a:avLst/>
          </a:prstGeom>
        </p:spPr>
        <p:txBody>
          <a:bodyPr/>
          <a:lstStyle/>
          <a:p>
            <a:pPr/>
            <a:r>
              <a:t>Este projeto tornou capaz as seguintes ações:</a:t>
            </a:r>
          </a:p>
          <a:p>
            <a:pPr/>
            <a:r>
              <a:t>Ingerir os dados sobre o produto da API</a:t>
            </a:r>
          </a:p>
          <a:p>
            <a:pPr/>
            <a:r>
              <a:t>Limpar e modelar os dados ingeridos</a:t>
            </a:r>
          </a:p>
          <a:p>
            <a:pPr/>
            <a:r>
              <a:t>Carregar os dados para um banco de dados em nuvem</a:t>
            </a:r>
          </a:p>
          <a:p>
            <a:pPr/>
            <a:r>
              <a:t>Apresentar os insights gerados de forma clara e intuitiva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róximos pass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Próximos passos</a:t>
            </a:r>
          </a:p>
        </p:txBody>
      </p:sp>
      <p:sp>
        <p:nvSpPr>
          <p:cNvPr id="200" name="Desenvolver a automação de renovação via refresh toke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Desenvolver a automação de renovação via refresh token</a:t>
            </a:r>
          </a:p>
          <a:p>
            <a:pPr/>
            <a:r>
              <a:t>Ampliar para mais produtos</a:t>
            </a:r>
          </a:p>
          <a:p>
            <a:pPr/>
            <a:r>
              <a:t>Monitorar as execuções via plataforma de orquestração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onclus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Conclusão</a:t>
            </a:r>
          </a:p>
        </p:txBody>
      </p:sp>
      <p:sp>
        <p:nvSpPr>
          <p:cNvPr id="203" name="Este projeto se tornou uma ferramenta prática para obter dados e transformá-los em insights valiosos, possibilitando uma tomada de decisão mais assertiva sobre um produto, pode ser aplicado em outros produtos e facilmente ser adaptado para outras áreas. 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Este projeto se tornou uma ferramenta prática para obter dados e transformá-los em insights valiosos, possibilitando uma tomada de decisão mais assertiva sobre um produto, pode ser aplicado em outros produtos e facilmente ser adaptado para outras áreas. Com a implementação dos próximos passos a tendência é tornar o processo de ETL independente.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fer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Referências</a:t>
            </a:r>
          </a:p>
        </p:txBody>
      </p:sp>
      <p:sp>
        <p:nvSpPr>
          <p:cNvPr id="206" name="https://developers.mercadolivre.com.br/pt_br/autenticacao-e-autorizaca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>
                <a:hlinkClick r:id="rId2" invalidUrl="" action="" tgtFrame="" tooltip="" history="1" highlightClick="0" endSnd="0"/>
              </a:rPr>
              <a:t>https://developers.mercadolivre.com.br/pt_br/autenticacao-e-autorizacao</a:t>
            </a:r>
          </a:p>
          <a:p>
            <a:pPr marL="0" indent="0">
              <a:buSzTx/>
              <a:buNone/>
            </a:pPr>
            <a:r>
              <a:rPr>
                <a:hlinkClick r:id="rId3" invalidUrl="" action="" tgtFrame="" tooltip="" history="1" highlightClick="0" endSnd="0"/>
              </a:rPr>
              <a:t>https://developers.mercadolivre.com.br/pt_br/buscador-de-produtos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